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914400"/>
            <a:ext cx="73152" cy="32004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9601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94360" y="1627632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Assistant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94360" y="2423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Master Project  |  Agentic AI System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834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 ·  </a:t>
            </a:r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 ·  </a:t>
            </a:r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 ·  </a:t>
            </a:r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Agents  ·  </a:t>
            </a:r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 ·  Plotly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0" y="4663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Capstone 2025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132320" y="457200"/>
            <a:ext cx="2286000" cy="2286000"/>
          </a:xfrm>
          <a:prstGeom prst="ellipse">
            <a:avLst/>
          </a:prstGeom>
          <a:solidFill>
            <a:srgbClr val="065A82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0" y="2926080"/>
            <a:ext cx="1371600" cy="1371600"/>
          </a:xfrm>
          <a:prstGeom prst="ellipse">
            <a:avLst/>
          </a:prstGeom>
          <a:solidFill>
            <a:srgbClr val="02C39A">
              <a:alpha val="1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Autonomous Research Assistant?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24528" cy="1207008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658368" cy="1207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960120"/>
            <a:ext cx="6400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07992" y="1508760"/>
            <a:ext cx="219456" cy="64008"/>
          </a:xfrm>
          <a:prstGeom prst="rect">
            <a:avLst/>
          </a:prstGeom>
          <a:solidFill>
            <a:srgbClr val="B0C4D8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07899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Question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51560" y="1435608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a research topic into the Streamlit chat interface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36592" y="960120"/>
            <a:ext cx="4224528" cy="1207008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36592" y="960120"/>
            <a:ext cx="658368" cy="12070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960120"/>
            <a:ext cx="6400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513832" y="107899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Retrieve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513832" y="1435608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queries ArXiv, PubMed, Semantic Scholar and the web in parallel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331720"/>
            <a:ext cx="4224528" cy="1207008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331720"/>
            <a:ext cx="658368" cy="1207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292608" y="2331720"/>
            <a:ext cx="6400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507992" y="2880360"/>
            <a:ext cx="219456" cy="64008"/>
          </a:xfrm>
          <a:prstGeom prst="rect">
            <a:avLst/>
          </a:prstGeom>
          <a:solidFill>
            <a:srgbClr val="B0C4D8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245059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&amp; Extract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051560" y="2807208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and web pages are parsed — key insights are pulled from each source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36592" y="2331720"/>
            <a:ext cx="4224528" cy="1207008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36592" y="2331720"/>
            <a:ext cx="658368" cy="1207008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2331720"/>
            <a:ext cx="6400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513832" y="245059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513832" y="2807208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4.5 combines all findings into a coherent research narrative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703320"/>
            <a:ext cx="4224528" cy="1207008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703320"/>
            <a:ext cx="658368" cy="1207008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29" name="Text 27"/>
          <p:cNvSpPr/>
          <p:nvPr/>
        </p:nvSpPr>
        <p:spPr>
          <a:xfrm>
            <a:off x="292608" y="3703320"/>
            <a:ext cx="6400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4507992" y="4251960"/>
            <a:ext cx="219456" cy="64008"/>
          </a:xfrm>
          <a:prstGeom prst="rect">
            <a:avLst/>
          </a:prstGeom>
          <a:solidFill>
            <a:srgbClr val="B0C4D8"/>
          </a:solidFill>
          <a:ln/>
        </p:spPr>
      </p:sp>
      <p:sp>
        <p:nvSpPr>
          <p:cNvPr id="31" name="Text 29"/>
          <p:cNvSpPr/>
          <p:nvPr/>
        </p:nvSpPr>
        <p:spPr>
          <a:xfrm>
            <a:off x="1051560" y="382219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Self-Critique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051560" y="4178808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4.5 reviews the draft for gaps, hallucinations and missing citations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36592" y="3703320"/>
            <a:ext cx="4224528" cy="1207008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36592" y="3703320"/>
            <a:ext cx="658368" cy="1207008"/>
          </a:xfrm>
          <a:prstGeom prst="rect">
            <a:avLst/>
          </a:prstGeom>
          <a:solidFill>
            <a:srgbClr val="7D6608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3703320"/>
            <a:ext cx="6400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513832" y="382219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Report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5513832" y="4178808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cited, formatted report delivered in the dashboard — ready to export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 of the agentic pipeline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234440" cy="1005840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8872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508760" y="1645920"/>
            <a:ext cx="210312" cy="64008"/>
          </a:xfrm>
          <a:prstGeom prst="rect">
            <a:avLst/>
          </a:prstGeom>
          <a:solidFill>
            <a:srgbClr val="B0C4D8"/>
          </a:solidFill>
          <a:ln/>
        </p:spPr>
      </p:sp>
      <p:sp>
        <p:nvSpPr>
          <p:cNvPr id="8" name="Shape 6"/>
          <p:cNvSpPr/>
          <p:nvPr/>
        </p:nvSpPr>
        <p:spPr>
          <a:xfrm>
            <a:off x="1664208" y="1572768"/>
            <a:ext cx="64008" cy="210312"/>
          </a:xfrm>
          <a:prstGeom prst="rect">
            <a:avLst/>
          </a:prstGeom>
          <a:solidFill>
            <a:srgbClr val="B0C4D8"/>
          </a:solidFill>
          <a:ln/>
        </p:spPr>
      </p:sp>
      <p:sp>
        <p:nvSpPr>
          <p:cNvPr id="9" name="Shape 7"/>
          <p:cNvSpPr/>
          <p:nvPr/>
        </p:nvSpPr>
        <p:spPr>
          <a:xfrm>
            <a:off x="1719072" y="1188720"/>
            <a:ext cx="1234440" cy="100584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19072" y="118872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53512" y="1645920"/>
            <a:ext cx="210312" cy="64008"/>
          </a:xfrm>
          <a:prstGeom prst="rect">
            <a:avLst/>
          </a:prstGeom>
          <a:solidFill>
            <a:srgbClr val="B0C4D8"/>
          </a:solidFill>
          <a:ln/>
        </p:spPr>
      </p:sp>
      <p:sp>
        <p:nvSpPr>
          <p:cNvPr id="12" name="Shape 10"/>
          <p:cNvSpPr/>
          <p:nvPr/>
        </p:nvSpPr>
        <p:spPr>
          <a:xfrm>
            <a:off x="3108960" y="1572768"/>
            <a:ext cx="64008" cy="210312"/>
          </a:xfrm>
          <a:prstGeom prst="rect">
            <a:avLst/>
          </a:prstGeom>
          <a:solidFill>
            <a:srgbClr val="B0C4D8"/>
          </a:solidFill>
          <a:ln/>
        </p:spPr>
      </p:sp>
      <p:sp>
        <p:nvSpPr>
          <p:cNvPr id="13" name="Shape 11"/>
          <p:cNvSpPr/>
          <p:nvPr/>
        </p:nvSpPr>
        <p:spPr>
          <a:xfrm>
            <a:off x="3163824" y="1188720"/>
            <a:ext cx="1234440" cy="100584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163824" y="118872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98264" y="1645920"/>
            <a:ext cx="210312" cy="64008"/>
          </a:xfrm>
          <a:prstGeom prst="rect">
            <a:avLst/>
          </a:prstGeom>
          <a:solidFill>
            <a:srgbClr val="B0C4D8"/>
          </a:solidFill>
          <a:ln/>
        </p:spPr>
      </p:sp>
      <p:sp>
        <p:nvSpPr>
          <p:cNvPr id="16" name="Shape 14"/>
          <p:cNvSpPr/>
          <p:nvPr/>
        </p:nvSpPr>
        <p:spPr>
          <a:xfrm>
            <a:off x="4553712" y="1572768"/>
            <a:ext cx="64008" cy="210312"/>
          </a:xfrm>
          <a:prstGeom prst="rect">
            <a:avLst/>
          </a:prstGeom>
          <a:solidFill>
            <a:srgbClr val="B0C4D8"/>
          </a:solidFill>
          <a:ln/>
        </p:spPr>
      </p:sp>
      <p:sp>
        <p:nvSpPr>
          <p:cNvPr id="17" name="Shape 15"/>
          <p:cNvSpPr/>
          <p:nvPr/>
        </p:nvSpPr>
        <p:spPr>
          <a:xfrm>
            <a:off x="4608576" y="1188720"/>
            <a:ext cx="1234440" cy="1005840"/>
          </a:xfrm>
          <a:prstGeom prst="rect">
            <a:avLst/>
          </a:prstGeom>
          <a:solidFill>
            <a:srgbClr val="1A527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08576" y="118872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43016" y="1645920"/>
            <a:ext cx="210312" cy="64008"/>
          </a:xfrm>
          <a:prstGeom prst="rect">
            <a:avLst/>
          </a:prstGeom>
          <a:solidFill>
            <a:srgbClr val="B0C4D8"/>
          </a:solidFill>
          <a:ln/>
        </p:spPr>
      </p:sp>
      <p:sp>
        <p:nvSpPr>
          <p:cNvPr id="20" name="Shape 18"/>
          <p:cNvSpPr/>
          <p:nvPr/>
        </p:nvSpPr>
        <p:spPr>
          <a:xfrm>
            <a:off x="5998464" y="1572768"/>
            <a:ext cx="64008" cy="210312"/>
          </a:xfrm>
          <a:prstGeom prst="rect">
            <a:avLst/>
          </a:prstGeom>
          <a:solidFill>
            <a:srgbClr val="B0C4D8"/>
          </a:solidFill>
          <a:ln/>
        </p:spPr>
      </p:sp>
      <p:sp>
        <p:nvSpPr>
          <p:cNvPr id="21" name="Shape 19"/>
          <p:cNvSpPr/>
          <p:nvPr/>
        </p:nvSpPr>
        <p:spPr>
          <a:xfrm>
            <a:off x="6053328" y="1188720"/>
            <a:ext cx="1234440" cy="1005840"/>
          </a:xfrm>
          <a:prstGeom prst="rect">
            <a:avLst/>
          </a:prstGeom>
          <a:solidFill>
            <a:srgbClr val="6C3483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053328" y="118872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87768" y="1645920"/>
            <a:ext cx="210312" cy="64008"/>
          </a:xfrm>
          <a:prstGeom prst="rect">
            <a:avLst/>
          </a:prstGeom>
          <a:solidFill>
            <a:srgbClr val="B0C4D8"/>
          </a:solidFill>
          <a:ln/>
        </p:spPr>
      </p:sp>
      <p:sp>
        <p:nvSpPr>
          <p:cNvPr id="24" name="Shape 22"/>
          <p:cNvSpPr/>
          <p:nvPr/>
        </p:nvSpPr>
        <p:spPr>
          <a:xfrm>
            <a:off x="7443216" y="1572768"/>
            <a:ext cx="64008" cy="210312"/>
          </a:xfrm>
          <a:prstGeom prst="rect">
            <a:avLst/>
          </a:prstGeom>
          <a:solidFill>
            <a:srgbClr val="B0C4D8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0" y="1188720"/>
            <a:ext cx="1234440" cy="1005840"/>
          </a:xfrm>
          <a:prstGeom prst="rect">
            <a:avLst/>
          </a:prstGeom>
          <a:solidFill>
            <a:srgbClr val="1E8449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498080" y="118872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2514600"/>
            <a:ext cx="2606040" cy="233172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2514600"/>
            <a:ext cx="2606040" cy="3474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25420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2944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PubMed · ArXiv · Semantic Scholar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3383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Web Search (SerpAPI)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38221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PDF Ingestion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42611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Vector DB (ChromaDB)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200400" y="2514600"/>
            <a:ext cx="2606040" cy="233172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0" y="2514600"/>
            <a:ext cx="2606040" cy="347472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36" name="Text 34"/>
          <p:cNvSpPr/>
          <p:nvPr/>
        </p:nvSpPr>
        <p:spPr>
          <a:xfrm>
            <a:off x="3291840" y="25420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Layer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291840" y="2944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ReAct Loop Controller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3291840" y="3383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Tool Dispatcher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3291840" y="38221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Memory Manager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3291840" y="42611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Self-Critique Module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035040" y="2514600"/>
            <a:ext cx="2606040" cy="233172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035040" y="2514600"/>
            <a:ext cx="2606040" cy="347472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43" name="Text 41"/>
          <p:cNvSpPr/>
          <p:nvPr/>
        </p:nvSpPr>
        <p:spPr>
          <a:xfrm>
            <a:off x="6126480" y="25420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126480" y="2944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Structured Report Builder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126480" y="3383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Citation Generator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6126480" y="38221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Streamlit Dashboard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126480" y="42611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Plotly Visualizations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— Sources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agent retrieve information from?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1605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64008" cy="11430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0" y="1078992"/>
            <a:ext cx="749808" cy="2286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1078992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4632" y="10789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 / MEDLINE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" y="133502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Entrez API (NCBI)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" y="15544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Biomedical &amp; life science papers, abstracts, full text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41605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05840"/>
            <a:ext cx="64008" cy="1143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Shape 13"/>
          <p:cNvSpPr/>
          <p:nvPr/>
        </p:nvSpPr>
        <p:spPr>
          <a:xfrm>
            <a:off x="8092440" y="1078992"/>
            <a:ext cx="749808" cy="228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092440" y="1078992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19472" y="10789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19472" y="133502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ArXiv API (REST)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19472" y="15544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CS, AI, Math, Physics preprints — free &amp; open access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2304288"/>
            <a:ext cx="41605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304288"/>
            <a:ext cx="64008" cy="1143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0" y="2377440"/>
            <a:ext cx="749808" cy="228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0" y="2377440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" y="23774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Scholar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" y="263347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S2 API (JSON)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" y="285292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papers with citation graph &amp; influence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2304288"/>
            <a:ext cx="41605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304288"/>
            <a:ext cx="64008" cy="1143000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29" name="Shape 27"/>
          <p:cNvSpPr/>
          <p:nvPr/>
        </p:nvSpPr>
        <p:spPr>
          <a:xfrm>
            <a:off x="8092440" y="2377440"/>
            <a:ext cx="749808" cy="228600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30" name="Text 28"/>
          <p:cNvSpPr/>
          <p:nvPr/>
        </p:nvSpPr>
        <p:spPr>
          <a:xfrm>
            <a:off x="8092440" y="2377440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19472" y="23774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 (SerpAPI)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19472" y="263347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SerpAPI / Google Custom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19472" y="285292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 pages, news, blogs, documentation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0040" y="3602736"/>
            <a:ext cx="41605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3602736"/>
            <a:ext cx="64008" cy="1143000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36" name="Shape 34"/>
          <p:cNvSpPr/>
          <p:nvPr/>
        </p:nvSpPr>
        <p:spPr>
          <a:xfrm>
            <a:off x="3657600" y="3675888"/>
            <a:ext cx="749808" cy="228600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0" y="36758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" y="36758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Documents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84632" y="39319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PyMuPDF / pdfplumber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4632" y="415137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User-uploaded PDFs parsed into text chunks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54880" y="3602736"/>
            <a:ext cx="41605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3602736"/>
            <a:ext cx="64008" cy="1143000"/>
          </a:xfrm>
          <a:prstGeom prst="rect">
            <a:avLst/>
          </a:prstGeom>
          <a:solidFill>
            <a:srgbClr val="7D6608"/>
          </a:solidFill>
          <a:ln/>
        </p:spPr>
      </p:sp>
      <p:sp>
        <p:nvSpPr>
          <p:cNvPr id="43" name="Shape 41"/>
          <p:cNvSpPr/>
          <p:nvPr/>
        </p:nvSpPr>
        <p:spPr>
          <a:xfrm>
            <a:off x="8092440" y="3675888"/>
            <a:ext cx="749808" cy="228600"/>
          </a:xfrm>
          <a:prstGeom prst="rect">
            <a:avLst/>
          </a:prstGeom>
          <a:solidFill>
            <a:srgbClr val="7D6608"/>
          </a:solidFill>
          <a:ln/>
        </p:spPr>
      </p:sp>
      <p:sp>
        <p:nvSpPr>
          <p:cNvPr id="44" name="Text 42"/>
          <p:cNvSpPr/>
          <p:nvPr/>
        </p:nvSpPr>
        <p:spPr>
          <a:xfrm>
            <a:off x="8092440" y="36758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919472" y="36758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919472" y="39319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Wikipedia REST API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919472" y="415137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context, entity definitions, disambiguation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— How It Works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6-step ingestion pipeline from query to vector store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4160520" cy="118872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87552"/>
            <a:ext cx="475488" cy="1188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" y="987552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86968" y="10789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Decomposition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86968" y="1389888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breaks user question into sub-queries &amp; search keywords using NLP techniques (NER, keyphrase extraction)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987552"/>
            <a:ext cx="4160520" cy="118872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87552"/>
            <a:ext cx="475488" cy="1188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773168" y="987552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21808" y="10789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API Fetch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321808" y="1389888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dispatches parallel calls to ArXiv, PubMed, Semantic Scholar &amp; SerpAPI simultaneously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331720"/>
            <a:ext cx="4160520" cy="118872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331720"/>
            <a:ext cx="475488" cy="11887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" y="2331720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86968" y="24231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Filtering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86968" y="2734056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scoring via BM25 + cosine similarity. Low-score results pruned before processing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331720"/>
            <a:ext cx="4160520" cy="118872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331720"/>
            <a:ext cx="475488" cy="1188720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22" name="Text 20"/>
          <p:cNvSpPr/>
          <p:nvPr/>
        </p:nvSpPr>
        <p:spPr>
          <a:xfrm>
            <a:off x="4773168" y="2331720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21808" y="24231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Parsing &amp; Chunking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321808" y="2734056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extracts raw text. RecursiveCharacterTextSplitter creates 512-token overlapping chunks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3675888"/>
            <a:ext cx="4160520" cy="118872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675888"/>
            <a:ext cx="475488" cy="1188720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27" name="Text 25"/>
          <p:cNvSpPr/>
          <p:nvPr/>
        </p:nvSpPr>
        <p:spPr>
          <a:xfrm>
            <a:off x="338328" y="3675888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86968" y="37673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Generation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86968" y="4078224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BAAI/bge-small-en (local, free) or Voyage AI voyage-3-lite converts chunks to 384/1024-dim dense vectors via HuggingFace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3675888"/>
            <a:ext cx="4160520" cy="118872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675888"/>
            <a:ext cx="475488" cy="1188720"/>
          </a:xfrm>
          <a:prstGeom prst="rect">
            <a:avLst/>
          </a:prstGeom>
          <a:solidFill>
            <a:srgbClr val="7D6608"/>
          </a:solidFill>
          <a:ln/>
        </p:spPr>
      </p:sp>
      <p:sp>
        <p:nvSpPr>
          <p:cNvPr id="32" name="Text 30"/>
          <p:cNvSpPr/>
          <p:nvPr/>
        </p:nvSpPr>
        <p:spPr>
          <a:xfrm>
            <a:off x="4773168" y="3675888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21808" y="37673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Upsert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321808" y="4078224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stores chunk + embedding + metadata (source, date, authors, DOI) for retrieval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— Retrieval-Augmented Generation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stored data is retrieved and used at inference time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417320" cy="8686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00584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91640" y="1389888"/>
            <a:ext cx="502920" cy="64008"/>
          </a:xfrm>
          <a:prstGeom prst="rect">
            <a:avLst/>
          </a:prstGeom>
          <a:solidFill>
            <a:srgbClr val="2C4A6E"/>
          </a:solidFill>
          <a:ln/>
        </p:spPr>
      </p:sp>
      <p:sp>
        <p:nvSpPr>
          <p:cNvPr id="9" name="Shape 7"/>
          <p:cNvSpPr/>
          <p:nvPr/>
        </p:nvSpPr>
        <p:spPr>
          <a:xfrm>
            <a:off x="1920240" y="1005840"/>
            <a:ext cx="1417320" cy="86868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20240" y="100584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389888"/>
            <a:ext cx="502920" cy="64008"/>
          </a:xfrm>
          <a:prstGeom prst="rect">
            <a:avLst/>
          </a:prstGeom>
          <a:solidFill>
            <a:srgbClr val="2C4A6E"/>
          </a:solidFill>
          <a:ln/>
        </p:spPr>
      </p:sp>
      <p:sp>
        <p:nvSpPr>
          <p:cNvPr id="12" name="Shape 10"/>
          <p:cNvSpPr/>
          <p:nvPr/>
        </p:nvSpPr>
        <p:spPr>
          <a:xfrm>
            <a:off x="3566160" y="1005840"/>
            <a:ext cx="1417320" cy="868680"/>
          </a:xfrm>
          <a:prstGeom prst="rect">
            <a:avLst/>
          </a:prstGeom>
          <a:solidFill>
            <a:srgbClr val="6C3483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66160" y="100584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83480" y="1389888"/>
            <a:ext cx="502920" cy="64008"/>
          </a:xfrm>
          <a:prstGeom prst="rect">
            <a:avLst/>
          </a:prstGeom>
          <a:solidFill>
            <a:srgbClr val="2C4A6E"/>
          </a:solidFill>
          <a:ln/>
        </p:spPr>
      </p:sp>
      <p:sp>
        <p:nvSpPr>
          <p:cNvPr id="15" name="Shape 13"/>
          <p:cNvSpPr/>
          <p:nvPr/>
        </p:nvSpPr>
        <p:spPr>
          <a:xfrm>
            <a:off x="5212080" y="1005840"/>
            <a:ext cx="1417320" cy="868680"/>
          </a:xfrm>
          <a:prstGeom prst="rect">
            <a:avLst/>
          </a:prstGeom>
          <a:solidFill>
            <a:srgbClr val="117A65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12080" y="100584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29400" y="1389888"/>
            <a:ext cx="502920" cy="64008"/>
          </a:xfrm>
          <a:prstGeom prst="rect">
            <a:avLst/>
          </a:prstGeom>
          <a:solidFill>
            <a:srgbClr val="2C4A6E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1005840"/>
            <a:ext cx="1417320" cy="868680"/>
          </a:xfrm>
          <a:prstGeom prst="rect">
            <a:avLst/>
          </a:prstGeom>
          <a:solidFill>
            <a:srgbClr val="7D6608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0" y="100584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321040" y="731520"/>
            <a:ext cx="594360" cy="141732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21040" y="731520"/>
            <a:ext cx="594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75320" y="1389888"/>
            <a:ext cx="73152" cy="6400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3" name="Shape 21"/>
          <p:cNvSpPr/>
          <p:nvPr/>
        </p:nvSpPr>
        <p:spPr>
          <a:xfrm>
            <a:off x="320040" y="214884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148840"/>
            <a:ext cx="2651760" cy="3474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21762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1480" y="2578608"/>
            <a:ext cx="2468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BAAI/bge-small-en-v1.5 (local)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Voyage AI voyage-3-lite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384/1024-dim vectors, cosine sim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200400" y="214884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0" y="2148840"/>
            <a:ext cx="2651760" cy="347472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29" name="Text 27"/>
          <p:cNvSpPr/>
          <p:nvPr/>
        </p:nvSpPr>
        <p:spPr>
          <a:xfrm>
            <a:off x="3291840" y="21762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291840" y="2578608"/>
            <a:ext cx="2468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(local) or Pinecone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MMR retrieval for diversity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= 5–10 chunks per query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080760" y="214884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80760" y="2148840"/>
            <a:ext cx="2651760" cy="347472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33" name="Text 31"/>
          <p:cNvSpPr/>
          <p:nvPr/>
        </p:nvSpPr>
        <p:spPr>
          <a:xfrm>
            <a:off x="6172200" y="21762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Assembly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172200" y="2578608"/>
            <a:ext cx="2468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+ retrieved chunks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conversation history injected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LLM context window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Used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AI models powering each stage of the pipeline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06240" cy="1261872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20624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0698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&amp; Reasoning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29000" y="1051560"/>
            <a:ext cx="914400" cy="228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10515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84048" y="13075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4.5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" y="156362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reasoning engine for the ReAct loop — plans tool calls, interprets results, synthesizes and writes the final research report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19202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Alt: claude-opus-4-5 via Anthropic API (anthropic Python SDK)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9160" y="960120"/>
            <a:ext cx="4206240" cy="1261872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960120"/>
            <a:ext cx="420624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4818888" y="10698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Iteration &amp; Sub-tasks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863840" y="1051560"/>
            <a:ext cx="914400" cy="228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0" y="10515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18888" y="13075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18888" y="156362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mid-complexity tasks — document summarization, tool result parsing, follow-up queries at lower latency &amp; cost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18888" y="19202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Alt: claude-sonnet-4-5 — best speed/quality balance for agentic loops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359152"/>
            <a:ext cx="4206240" cy="1261872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359152"/>
            <a:ext cx="420624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" y="24688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29000" y="2450592"/>
            <a:ext cx="914400" cy="228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3429000" y="2450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(local)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84048" y="27066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BAAI/bge-small-en-v1.5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84048" y="296265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text chunks into 384-dim vectors for ChromaDB — free, runs locally, no API key required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" y="331927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Alt: voyage-3-lite (Voyage AI) — Anthropic-recommended embedding model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9160" y="2359152"/>
            <a:ext cx="4206240" cy="1261872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2359152"/>
            <a:ext cx="4206240" cy="73152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31" name="Text 29"/>
          <p:cNvSpPr/>
          <p:nvPr/>
        </p:nvSpPr>
        <p:spPr>
          <a:xfrm>
            <a:off x="4818888" y="24688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Pre-processing (from NLP course)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863840" y="2450592"/>
            <a:ext cx="914400" cy="228600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33" name="Text 31"/>
          <p:cNvSpPr/>
          <p:nvPr/>
        </p:nvSpPr>
        <p:spPr>
          <a:xfrm>
            <a:off x="7863840" y="2450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818888" y="27066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en_core_web_lg + KeyBERT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18888" y="296265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for entity extraction, keyphrase detection for query decomposition — leverages NLP coursework directly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18888" y="331927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Alt: NLTK + RAKE for simpler keyword extraction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3758184"/>
            <a:ext cx="4206240" cy="1261872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74320" y="3758184"/>
            <a:ext cx="4206240" cy="73152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39" name="Text 37"/>
          <p:cNvSpPr/>
          <p:nvPr/>
        </p:nvSpPr>
        <p:spPr>
          <a:xfrm>
            <a:off x="384048" y="38679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Summarization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429000" y="3849624"/>
            <a:ext cx="914400" cy="228600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41" name="Text 39"/>
          <p:cNvSpPr/>
          <p:nvPr/>
        </p:nvSpPr>
        <p:spPr>
          <a:xfrm>
            <a:off x="3429000" y="384962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84048" y="41056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BART-large-CNN / LongT5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84048" y="43616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Summarizes long individual papers before inserting into Claude context window — prevents token overflow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84048" y="471830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Alt: Claude's 200K context window reduces need for pre-summarization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09160" y="3758184"/>
            <a:ext cx="4206240" cy="1261872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09160" y="3758184"/>
            <a:ext cx="4206240" cy="73152"/>
          </a:xfrm>
          <a:prstGeom prst="rect">
            <a:avLst/>
          </a:prstGeom>
          <a:solidFill>
            <a:srgbClr val="7D6608"/>
          </a:solidFill>
          <a:ln/>
        </p:spPr>
      </p:sp>
      <p:sp>
        <p:nvSpPr>
          <p:cNvPr id="47" name="Text 45"/>
          <p:cNvSpPr/>
          <p:nvPr/>
        </p:nvSpPr>
        <p:spPr>
          <a:xfrm>
            <a:off x="4818888" y="38679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Self-Critique / Quality Check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863840" y="3849624"/>
            <a:ext cx="914400" cy="228600"/>
          </a:xfrm>
          <a:prstGeom prst="rect">
            <a:avLst/>
          </a:prstGeom>
          <a:solidFill>
            <a:srgbClr val="7D6608"/>
          </a:solidFill>
          <a:ln/>
        </p:spPr>
      </p:sp>
      <p:sp>
        <p:nvSpPr>
          <p:cNvPr id="49" name="Text 47"/>
          <p:cNvSpPr/>
          <p:nvPr/>
        </p:nvSpPr>
        <p:spPr>
          <a:xfrm>
            <a:off x="7863840" y="384962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818888" y="41056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4.5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4818888" y="43616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Fastest, cheapest Claude model acts as critic — evaluates report quality, flags gaps, requests revisions before final output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818888" y="471830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Alt: claude-haiku-4-5-20251001 — ideal for high-frequency quality checks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Agent Framework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→ Act → Observe loop powering the agent's decisions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0" y="960120"/>
            <a:ext cx="1828800" cy="8686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0" y="99669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0" y="13441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decides what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next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583680" y="2286000"/>
            <a:ext cx="1828800" cy="86868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23225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26700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a tool: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PDF, Code, DB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0" y="3611880"/>
            <a:ext cx="1828800" cy="868680"/>
          </a:xfrm>
          <a:prstGeom prst="rect">
            <a:avLst/>
          </a:prstGeom>
          <a:solidFill>
            <a:srgbClr val="117A6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0" y="36484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39959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tool output,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context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31520" y="2286000"/>
            <a:ext cx="1828800" cy="868680"/>
          </a:xfrm>
          <a:prstGeom prst="rect">
            <a:avLst/>
          </a:prstGeom>
          <a:solidFill>
            <a:srgbClr val="6C3483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23225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26700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checks quality,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or terminate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83280" y="1828800"/>
            <a:ext cx="2377440" cy="1463040"/>
          </a:xfrm>
          <a:prstGeom prst="ellipse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383280" y="182880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35240" y="960120"/>
            <a:ext cx="1371600" cy="370332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635240" y="9875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699248" y="1298448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Web / API Search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699248" y="1865376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PDF / Text Parser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699248" y="2432304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Python Code Executor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699248" y="2999232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 Vector DB Retriever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699248" y="356616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 Report Writer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Libraries, frameworks and services used end-to-end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965960" cy="384048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1965960" cy="3657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9784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Framework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" y="1444752"/>
            <a:ext cx="73152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139903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/ LangGraph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" y="2039112"/>
            <a:ext cx="73152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19933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Tools API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7472" y="2633472"/>
            <a:ext cx="73152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25877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StateGraph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7472" y="3227832"/>
            <a:ext cx="73152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318211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Function Calling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7472" y="3822192"/>
            <a:ext cx="73152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377647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ReAct loop logic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450592" y="960120"/>
            <a:ext cx="1965960" cy="384048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50592" y="960120"/>
            <a:ext cx="196596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2523744" y="9784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Storage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23744" y="1444752"/>
            <a:ext cx="73152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2651760" y="139903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(vector store)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523744" y="2039112"/>
            <a:ext cx="73152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2651760" y="19933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/ pdfplumber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523744" y="2633472"/>
            <a:ext cx="73152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2651760" y="25877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SQLite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523744" y="3227832"/>
            <a:ext cx="73152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2651760" y="318211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+ BeautifulSoup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523744" y="3822192"/>
            <a:ext cx="73152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2651760" y="377647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SerpAPI / Tavily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26864" y="960120"/>
            <a:ext cx="1965960" cy="384048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26864" y="960120"/>
            <a:ext cx="196596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3" name="Text 31"/>
          <p:cNvSpPr/>
          <p:nvPr/>
        </p:nvSpPr>
        <p:spPr>
          <a:xfrm>
            <a:off x="4700016" y="9784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ML Models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00016" y="1444752"/>
            <a:ext cx="73152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5" name="Text 33"/>
          <p:cNvSpPr/>
          <p:nvPr/>
        </p:nvSpPr>
        <p:spPr>
          <a:xfrm>
            <a:off x="4828032" y="139903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4.5 (reasoning)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00016" y="2039112"/>
            <a:ext cx="73152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7" name="Text 35"/>
          <p:cNvSpPr/>
          <p:nvPr/>
        </p:nvSpPr>
        <p:spPr>
          <a:xfrm>
            <a:off x="4828032" y="19933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4.5 (sub-tasks)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00016" y="2633472"/>
            <a:ext cx="73152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9" name="Text 37"/>
          <p:cNvSpPr/>
          <p:nvPr/>
        </p:nvSpPr>
        <p:spPr>
          <a:xfrm>
            <a:off x="4828032" y="25877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4.5 (critic)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00016" y="3227832"/>
            <a:ext cx="73152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1" name="Text 39"/>
          <p:cNvSpPr/>
          <p:nvPr/>
        </p:nvSpPr>
        <p:spPr>
          <a:xfrm>
            <a:off x="4828032" y="318211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+ KeyBERT + BART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700016" y="3822192"/>
            <a:ext cx="73152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3" name="Text 41"/>
          <p:cNvSpPr/>
          <p:nvPr/>
        </p:nvSpPr>
        <p:spPr>
          <a:xfrm>
            <a:off x="4828032" y="377647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BAAI/bge-small (embeddings)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803136" y="960120"/>
            <a:ext cx="1965960" cy="384048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803136" y="960120"/>
            <a:ext cx="1965960" cy="365760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46" name="Text 44"/>
          <p:cNvSpPr/>
          <p:nvPr/>
        </p:nvSpPr>
        <p:spPr>
          <a:xfrm>
            <a:off x="6876288" y="9784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Viz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876288" y="1444752"/>
            <a:ext cx="73152" cy="73152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48" name="Text 46"/>
          <p:cNvSpPr/>
          <p:nvPr/>
        </p:nvSpPr>
        <p:spPr>
          <a:xfrm>
            <a:off x="7004304" y="139903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(dashboard UI)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876288" y="2039112"/>
            <a:ext cx="73152" cy="73152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50" name="Text 48"/>
          <p:cNvSpPr/>
          <p:nvPr/>
        </p:nvSpPr>
        <p:spPr>
          <a:xfrm>
            <a:off x="7004304" y="19933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Express / Graph Objects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876288" y="2633472"/>
            <a:ext cx="73152" cy="73152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52" name="Text 50"/>
          <p:cNvSpPr/>
          <p:nvPr/>
        </p:nvSpPr>
        <p:spPr>
          <a:xfrm>
            <a:off x="7004304" y="25877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Streamlit-AgGrid (tables)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876288" y="3227832"/>
            <a:ext cx="73152" cy="73152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54" name="Text 52"/>
          <p:cNvSpPr/>
          <p:nvPr/>
        </p:nvSpPr>
        <p:spPr>
          <a:xfrm>
            <a:off x="7004304" y="318211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st.chat_message (chat UI)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876288" y="3822192"/>
            <a:ext cx="73152" cy="73152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56" name="Text 54"/>
          <p:cNvSpPr/>
          <p:nvPr/>
        </p:nvSpPr>
        <p:spPr>
          <a:xfrm>
            <a:off x="7004304" y="377647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Cloud (deploy)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 — Streamlit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results are displayed and interacted with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5212080" cy="393192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1188720" cy="3931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" y="1005840"/>
            <a:ext cx="1152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Research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2608" y="1691640"/>
            <a:ext cx="1152144" cy="43891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70992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New Query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2608" y="2240280"/>
            <a:ext cx="1152144" cy="43891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225856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History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2608" y="2788920"/>
            <a:ext cx="1152144" cy="43891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280720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Settings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92608" y="3337560"/>
            <a:ext cx="1152144" cy="43891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335584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Analytics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572768" y="10241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572768" y="1280160"/>
            <a:ext cx="3200400" cy="292608"/>
          </a:xfrm>
          <a:prstGeom prst="rect">
            <a:avLst/>
          </a:prstGeom>
          <a:solidFill>
            <a:srgbClr val="253545"/>
          </a:solidFill>
          <a:ln/>
        </p:spPr>
      </p:sp>
      <p:sp>
        <p:nvSpPr>
          <p:cNvPr id="19" name="Text 17"/>
          <p:cNvSpPr/>
          <p:nvPr/>
        </p:nvSpPr>
        <p:spPr>
          <a:xfrm>
            <a:off x="1627632" y="12984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8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latest advances in…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73168" y="1280160"/>
            <a:ext cx="658368" cy="292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4773168" y="128016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572768" y="1691640"/>
            <a:ext cx="3858768" cy="109728"/>
          </a:xfrm>
          <a:prstGeom prst="rect">
            <a:avLst/>
          </a:prstGeom>
          <a:solidFill>
            <a:srgbClr val="253545"/>
          </a:solidFill>
          <a:ln/>
        </p:spPr>
      </p:sp>
      <p:sp>
        <p:nvSpPr>
          <p:cNvPr id="23" name="Shape 21"/>
          <p:cNvSpPr/>
          <p:nvPr/>
        </p:nvSpPr>
        <p:spPr>
          <a:xfrm>
            <a:off x="1572768" y="1691640"/>
            <a:ext cx="2560320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1572768" y="1810512"/>
            <a:ext cx="3858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Fetching sources… 66%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572768" y="2084832"/>
            <a:ext cx="1234440" cy="2560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1572768" y="20848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Report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852928" y="2084832"/>
            <a:ext cx="1234440" cy="256032"/>
          </a:xfrm>
          <a:prstGeom prst="rect">
            <a:avLst/>
          </a:prstGeom>
          <a:solidFill>
            <a:srgbClr val="253545"/>
          </a:solidFill>
          <a:ln/>
        </p:spPr>
      </p:sp>
      <p:sp>
        <p:nvSpPr>
          <p:cNvPr id="28" name="Text 26"/>
          <p:cNvSpPr/>
          <p:nvPr/>
        </p:nvSpPr>
        <p:spPr>
          <a:xfrm>
            <a:off x="2852928" y="20848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Charts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33088" y="2084832"/>
            <a:ext cx="1234440" cy="256032"/>
          </a:xfrm>
          <a:prstGeom prst="rect">
            <a:avLst/>
          </a:prstGeom>
          <a:solidFill>
            <a:srgbClr val="253545"/>
          </a:solidFill>
          <a:ln/>
        </p:spPr>
      </p:sp>
      <p:sp>
        <p:nvSpPr>
          <p:cNvPr id="30" name="Text 28"/>
          <p:cNvSpPr/>
          <p:nvPr/>
        </p:nvSpPr>
        <p:spPr>
          <a:xfrm>
            <a:off x="4133088" y="20848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Sources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609344" y="2395728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 Executive Summary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609344" y="2743200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indicates three key findings…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609344" y="3090672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**Finding 1:** Transformer-based models…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609344" y="3438144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**Finding 2:** RAG improves factual…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669280" y="960120"/>
            <a:ext cx="32461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669280" y="960120"/>
            <a:ext cx="54864" cy="8046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7" name="Text 35"/>
          <p:cNvSpPr/>
          <p:nvPr/>
        </p:nvSpPr>
        <p:spPr>
          <a:xfrm>
            <a:off x="5788152" y="10241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788152" y="130759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st.chat_message() for conversational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refinement and follow-ups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669280" y="1920240"/>
            <a:ext cx="32461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669280" y="1920240"/>
            <a:ext cx="54864" cy="8046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1" name="Text 39"/>
          <p:cNvSpPr/>
          <p:nvPr/>
        </p:nvSpPr>
        <p:spPr>
          <a:xfrm>
            <a:off x="5788152" y="19842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Progress Bar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788152" y="226771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st.progress() + spinner shows agent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in real time as it works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669280" y="2880360"/>
            <a:ext cx="32461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669280" y="2880360"/>
            <a:ext cx="54864" cy="8046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5" name="Text 43"/>
          <p:cNvSpPr/>
          <p:nvPr/>
        </p:nvSpPr>
        <p:spPr>
          <a:xfrm>
            <a:off x="5788152" y="29443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Explorer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788152" y="322783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Expandable cards for each retrieved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with link, abstract, relevance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669280" y="3840480"/>
            <a:ext cx="32461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669280" y="3840480"/>
            <a:ext cx="54864" cy="8046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9" name="Text 47"/>
          <p:cNvSpPr/>
          <p:nvPr/>
        </p:nvSpPr>
        <p:spPr>
          <a:xfrm>
            <a:off x="5788152" y="39044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Options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788152" y="418795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report as .md, .pdf,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.docx with one click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669280" y="4800600"/>
            <a:ext cx="32461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669280" y="4800600"/>
            <a:ext cx="54864" cy="8046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3" name="Text 51"/>
          <p:cNvSpPr/>
          <p:nvPr/>
        </p:nvSpPr>
        <p:spPr>
          <a:xfrm>
            <a:off x="5788152" y="48646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History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788152" y="514807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queries stored in SQLite, browseable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sidebar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 — Plotly Visualizations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and graphs embedded in the Streamlit dashboard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4206240" cy="1252728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87552"/>
            <a:ext cx="64008" cy="1252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0789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Relevance Bar Chart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" y="1389888"/>
            <a:ext cx="3931920" cy="292608"/>
          </a:xfrm>
          <a:prstGeom prst="rect">
            <a:avLst/>
          </a:prstGeom>
          <a:solidFill>
            <a:srgbClr val="060E18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1408176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px.bar(df, x='source', y='score', color='type')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38912" y="175564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Compare relevance scores across retrieved papers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87552"/>
            <a:ext cx="4206240" cy="1252728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987552"/>
            <a:ext cx="64008" cy="12527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873752" y="10789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Cluster Scatter Plot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873752" y="1389888"/>
            <a:ext cx="3931920" cy="292608"/>
          </a:xfrm>
          <a:prstGeom prst="rect">
            <a:avLst/>
          </a:prstGeom>
          <a:solidFill>
            <a:srgbClr val="060E18"/>
          </a:solidFill>
          <a:ln/>
        </p:spPr>
      </p:sp>
      <p:sp>
        <p:nvSpPr>
          <p:cNvPr id="15" name="Text 13"/>
          <p:cNvSpPr/>
          <p:nvPr/>
        </p:nvSpPr>
        <p:spPr>
          <a:xfrm>
            <a:off x="4910328" y="1408176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px.scatter(df, x='x', y='y', color='cluster')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73752" y="175564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Visualize semantic clustering of retrieved documents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386584"/>
            <a:ext cx="4206240" cy="1252728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386584"/>
            <a:ext cx="64008" cy="1252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" y="24780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Network Graph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8912" y="2788920"/>
            <a:ext cx="3931920" cy="292608"/>
          </a:xfrm>
          <a:prstGeom prst="rect">
            <a:avLst/>
          </a:prstGeom>
          <a:solidFill>
            <a:srgbClr val="060E18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" y="2807208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go.Scatter (networkx → plotly)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38912" y="315468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Show citation relationships between papers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2386584"/>
            <a:ext cx="4206240" cy="1252728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386584"/>
            <a:ext cx="64008" cy="1252728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25" name="Text 23"/>
          <p:cNvSpPr/>
          <p:nvPr/>
        </p:nvSpPr>
        <p:spPr>
          <a:xfrm>
            <a:off x="4873752" y="24780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Co-occurrence Map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873752" y="2788920"/>
            <a:ext cx="3931920" cy="292608"/>
          </a:xfrm>
          <a:prstGeom prst="rect">
            <a:avLst/>
          </a:prstGeom>
          <a:solidFill>
            <a:srgbClr val="060E18"/>
          </a:solidFill>
          <a:ln/>
        </p:spPr>
      </p:sp>
      <p:sp>
        <p:nvSpPr>
          <p:cNvPr id="27" name="Text 25"/>
          <p:cNvSpPr/>
          <p:nvPr/>
        </p:nvSpPr>
        <p:spPr>
          <a:xfrm>
            <a:off x="4910328" y="2807208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go.Heatmap(z=cooccurrence_matrix)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73752" y="315468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See which terms appear together across sources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785616"/>
            <a:ext cx="4206240" cy="1252728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785616"/>
            <a:ext cx="64008" cy="1252728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31" name="Text 29"/>
          <p:cNvSpPr/>
          <p:nvPr/>
        </p:nvSpPr>
        <p:spPr>
          <a:xfrm>
            <a:off x="438912" y="38770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Step Timeline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38912" y="4187952"/>
            <a:ext cx="3931920" cy="292608"/>
          </a:xfrm>
          <a:prstGeom prst="rect">
            <a:avLst/>
          </a:prstGeom>
          <a:solidFill>
            <a:srgbClr val="060E18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" y="4206240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px.timeline(df, x_start='t0', x_end='t1')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38912" y="455371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Trace each agent action with duration &amp; tool used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09160" y="3785616"/>
            <a:ext cx="4206240" cy="1252728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3785616"/>
            <a:ext cx="64008" cy="1252728"/>
          </a:xfrm>
          <a:prstGeom prst="rect">
            <a:avLst/>
          </a:prstGeom>
          <a:solidFill>
            <a:srgbClr val="7D6608"/>
          </a:solidFill>
          <a:ln/>
        </p:spPr>
      </p:sp>
      <p:sp>
        <p:nvSpPr>
          <p:cNvPr id="37" name="Text 35"/>
          <p:cNvSpPr/>
          <p:nvPr/>
        </p:nvSpPr>
        <p:spPr>
          <a:xfrm>
            <a:off x="4873752" y="38770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 Gauge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873752" y="4187952"/>
            <a:ext cx="3931920" cy="292608"/>
          </a:xfrm>
          <a:prstGeom prst="rect">
            <a:avLst/>
          </a:prstGeom>
          <a:solidFill>
            <a:srgbClr val="060E18"/>
          </a:solidFill>
          <a:ln/>
        </p:spPr>
      </p:sp>
      <p:sp>
        <p:nvSpPr>
          <p:cNvPr id="39" name="Text 37"/>
          <p:cNvSpPr/>
          <p:nvPr/>
        </p:nvSpPr>
        <p:spPr>
          <a:xfrm>
            <a:off x="4910328" y="4206240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go.Indicator(mode='gauge+number')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73752" y="455371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Display model confidence for the final report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Snapshot — Streamlit + Plotly Integration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code patterns for the dashboard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160520" cy="384048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00584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streamlit_app.py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7472" y="1316736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streamlit as st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47472" y="146761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plotly.express as px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" y="161848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anthropic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47472" y="176936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agent import ResearchAgent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47472" y="192024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47472" y="2071116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st.title('🔬 Research Assistant')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47472" y="222199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= st.chat_input('Enter topic…')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7472" y="237286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47472" y="252374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query: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7472" y="267462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with st.spinner('Agent working…'):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7472" y="2825496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client = anthropic.Anthropic()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47472" y="297637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 = ResearchAgent(client)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47472" y="312724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agent.run(query)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47472" y="327812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342900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st.markdown(result['report'])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7472" y="3579876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373075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Relevance chart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47472" y="388162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fig = px.bar(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47472" y="403250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result['sources'],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7472" y="418338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x='title', y='score',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4334256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color='database',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47472" y="448513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title='Source Relevance'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7472" y="463600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47472" y="478688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st.plotly_chart(fig)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63440" y="960120"/>
            <a:ext cx="420624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960120"/>
            <a:ext cx="54864" cy="8046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4" name="Text 32"/>
          <p:cNvSpPr/>
          <p:nvPr/>
        </p:nvSpPr>
        <p:spPr>
          <a:xfrm>
            <a:off x="4773168" y="101498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st.chat_input()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73168" y="132588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chat widget — handles enter-key submission, clears automatically after send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1920240"/>
            <a:ext cx="420624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63440" y="1920240"/>
            <a:ext cx="54864" cy="8046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8" name="Text 36"/>
          <p:cNvSpPr/>
          <p:nvPr/>
        </p:nvSpPr>
        <p:spPr>
          <a:xfrm>
            <a:off x="4773168" y="19751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st.spinner()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73168" y="228600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the agent call — shows a spinner while the ReAct loop runs (can take 15–30s)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63440" y="2880360"/>
            <a:ext cx="420624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63440" y="2880360"/>
            <a:ext cx="54864" cy="8046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2" name="Text 40"/>
          <p:cNvSpPr/>
          <p:nvPr/>
        </p:nvSpPr>
        <p:spPr>
          <a:xfrm>
            <a:off x="4773168" y="293522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st.markdown()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773168" y="324612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the LLM's markdown output — headers, bold, code blocks all display properly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663440" y="3840480"/>
            <a:ext cx="420624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63440" y="3840480"/>
            <a:ext cx="54864" cy="8046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6" name="Text 44"/>
          <p:cNvSpPr/>
          <p:nvPr/>
        </p:nvSpPr>
        <p:spPr>
          <a:xfrm>
            <a:off x="4773168" y="389534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px.bar() / px.scatter()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773168" y="420624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Express charts with one line; pass a pandas DataFrame from agent results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663440" y="4800600"/>
            <a:ext cx="420624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663440" y="4800600"/>
            <a:ext cx="54864" cy="8046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0" name="Text 48"/>
          <p:cNvSpPr/>
          <p:nvPr/>
        </p:nvSpPr>
        <p:spPr>
          <a:xfrm>
            <a:off x="4773168" y="485546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st.plotly_chart(fig)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773168" y="516636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interactive Plotly chart — users can zoom, hover, and download as PNG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Success Metrics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know the agent is performing well?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06240" cy="182880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206240" cy="34747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0241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Quality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4173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Precision@K — % of top-K chunks that are relevant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18562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Recall — coverage of key topics from gold standard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229514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MRR (Mean Reciprocal Rank) for ranked results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960120"/>
            <a:ext cx="4206240" cy="182880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960120"/>
            <a:ext cx="4206240" cy="3474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818888" y="10241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Quality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18888" y="14173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ROUGE-L vs. human reference summaries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18888" y="18562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BERTScore — semantic similarity to ground truth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18888" y="229514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Factual consistency check via NLI model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971800"/>
            <a:ext cx="4206240" cy="182880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971800"/>
            <a:ext cx="4206240" cy="3474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30358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Efficiency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048" y="34290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Steps to completion (fewer = better planning)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84048" y="38679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Tool call success rate (no failed API calls)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84048" y="430682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Latency: time from query to final report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2971800"/>
            <a:ext cx="4206240" cy="182880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971800"/>
            <a:ext cx="4206240" cy="347472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25" name="Text 23"/>
          <p:cNvSpPr/>
          <p:nvPr/>
        </p:nvSpPr>
        <p:spPr>
          <a:xfrm>
            <a:off x="4818888" y="30358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Satisfaction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18888" y="34290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Qualitative rubric: completeness, clarity, citations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18888" y="38679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A/B test: agent report vs. manual research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18888" y="430682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SUS score from user testing sessions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Project Timeline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8-week delivery plan — one milestone per fortnight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196596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87552"/>
            <a:ext cx="196596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0058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" y="11887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600200"/>
            <a:ext cx="118872" cy="1188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508760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LangChain + OpenAI API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313432"/>
            <a:ext cx="118872" cy="1188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221992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basic ReAct loop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026664"/>
            <a:ext cx="118872" cy="1188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935224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SerpAPI + ArXiv fetch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739896"/>
            <a:ext cx="118872" cy="1188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648456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 tool calls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50592" y="987552"/>
            <a:ext cx="196596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50592" y="987552"/>
            <a:ext cx="196596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2523744" y="10058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23744" y="11887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42032" y="1600200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2724912" y="1508760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PDF parser &amp; chunker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42032" y="2313432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2724912" y="2221992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ChromaDB vector store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42032" y="3026664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2724912" y="2935224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RAG retrieval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42032" y="3739896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2724912" y="3648456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PubMed + S2 connectors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26864" y="987552"/>
            <a:ext cx="196596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26864" y="987552"/>
            <a:ext cx="1965960" cy="411480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32" name="Text 30"/>
          <p:cNvSpPr/>
          <p:nvPr/>
        </p:nvSpPr>
        <p:spPr>
          <a:xfrm>
            <a:off x="4700016" y="10058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00016" y="11887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+ Critique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18304" y="1600200"/>
            <a:ext cx="118872" cy="118872"/>
          </a:xfrm>
          <a:prstGeom prst="ellipse">
            <a:avLst/>
          </a:prstGeom>
          <a:solidFill>
            <a:srgbClr val="6C3483"/>
          </a:solidFill>
          <a:ln/>
        </p:spPr>
      </p:sp>
      <p:sp>
        <p:nvSpPr>
          <p:cNvPr id="35" name="Text 33"/>
          <p:cNvSpPr/>
          <p:nvPr/>
        </p:nvSpPr>
        <p:spPr>
          <a:xfrm>
            <a:off x="4901184" y="1508760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self-critique agent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18304" y="2313432"/>
            <a:ext cx="118872" cy="118872"/>
          </a:xfrm>
          <a:prstGeom prst="ellipse">
            <a:avLst/>
          </a:prstGeom>
          <a:solidFill>
            <a:srgbClr val="6C3483"/>
          </a:solidFill>
          <a:ln/>
        </p:spPr>
      </p:sp>
      <p:sp>
        <p:nvSpPr>
          <p:cNvPr id="37" name="Text 35"/>
          <p:cNvSpPr/>
          <p:nvPr/>
        </p:nvSpPr>
        <p:spPr>
          <a:xfrm>
            <a:off x="4901184" y="2221992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module (short + long)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18304" y="3026664"/>
            <a:ext cx="118872" cy="118872"/>
          </a:xfrm>
          <a:prstGeom prst="ellipse">
            <a:avLst/>
          </a:prstGeom>
          <a:solidFill>
            <a:srgbClr val="6C3483"/>
          </a:solidFill>
          <a:ln/>
        </p:spPr>
      </p:sp>
      <p:sp>
        <p:nvSpPr>
          <p:cNvPr id="39" name="Text 37"/>
          <p:cNvSpPr/>
          <p:nvPr/>
        </p:nvSpPr>
        <p:spPr>
          <a:xfrm>
            <a:off x="4901184" y="2935224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decomposition with spaCy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18304" y="3739896"/>
            <a:ext cx="118872" cy="118872"/>
          </a:xfrm>
          <a:prstGeom prst="ellipse">
            <a:avLst/>
          </a:prstGeom>
          <a:solidFill>
            <a:srgbClr val="6C3483"/>
          </a:solidFill>
          <a:ln/>
        </p:spPr>
      </p:sp>
      <p:sp>
        <p:nvSpPr>
          <p:cNvPr id="41" name="Text 39"/>
          <p:cNvSpPr/>
          <p:nvPr/>
        </p:nvSpPr>
        <p:spPr>
          <a:xfrm>
            <a:off x="4901184" y="3648456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test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803136" y="987552"/>
            <a:ext cx="196596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803136" y="987552"/>
            <a:ext cx="1965960" cy="411480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44" name="Text 42"/>
          <p:cNvSpPr/>
          <p:nvPr/>
        </p:nvSpPr>
        <p:spPr>
          <a:xfrm>
            <a:off x="6876288" y="10058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7–8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876288" y="11887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Demo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894576" y="1600200"/>
            <a:ext cx="118872" cy="118872"/>
          </a:xfrm>
          <a:prstGeom prst="ellipse">
            <a:avLst/>
          </a:prstGeom>
          <a:solidFill>
            <a:srgbClr val="117A65"/>
          </a:solidFill>
          <a:ln/>
        </p:spPr>
      </p:sp>
      <p:sp>
        <p:nvSpPr>
          <p:cNvPr id="47" name="Text 45"/>
          <p:cNvSpPr/>
          <p:nvPr/>
        </p:nvSpPr>
        <p:spPr>
          <a:xfrm>
            <a:off x="7077456" y="1508760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Streamlit UI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94576" y="2313432"/>
            <a:ext cx="118872" cy="118872"/>
          </a:xfrm>
          <a:prstGeom prst="ellipse">
            <a:avLst/>
          </a:prstGeom>
          <a:solidFill>
            <a:srgbClr val="117A65"/>
          </a:solidFill>
          <a:ln/>
        </p:spPr>
      </p:sp>
      <p:sp>
        <p:nvSpPr>
          <p:cNvPr id="49" name="Text 47"/>
          <p:cNvSpPr/>
          <p:nvPr/>
        </p:nvSpPr>
        <p:spPr>
          <a:xfrm>
            <a:off x="7077456" y="2221992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Plotly visualizations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894576" y="3026664"/>
            <a:ext cx="118872" cy="118872"/>
          </a:xfrm>
          <a:prstGeom prst="ellipse">
            <a:avLst/>
          </a:prstGeom>
          <a:solidFill>
            <a:srgbClr val="117A65"/>
          </a:solidFill>
          <a:ln/>
        </p:spPr>
      </p:sp>
      <p:sp>
        <p:nvSpPr>
          <p:cNvPr id="51" name="Text 49"/>
          <p:cNvSpPr/>
          <p:nvPr/>
        </p:nvSpPr>
        <p:spPr>
          <a:xfrm>
            <a:off x="7077456" y="2935224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benchmarking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894576" y="3739896"/>
            <a:ext cx="118872" cy="118872"/>
          </a:xfrm>
          <a:prstGeom prst="ellipse">
            <a:avLst/>
          </a:prstGeom>
          <a:solidFill>
            <a:srgbClr val="117A65"/>
          </a:solidFill>
          <a:ln/>
        </p:spPr>
      </p:sp>
      <p:sp>
        <p:nvSpPr>
          <p:cNvPr id="53" name="Text 51"/>
          <p:cNvSpPr/>
          <p:nvPr/>
        </p:nvSpPr>
        <p:spPr>
          <a:xfrm>
            <a:off x="7077456" y="3648456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writeup &amp; presentation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74320" y="4709160"/>
            <a:ext cx="8641080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5" name="Text 53"/>
          <p:cNvSpPr/>
          <p:nvPr/>
        </p:nvSpPr>
        <p:spPr>
          <a:xfrm>
            <a:off x="365760" y="4727448"/>
            <a:ext cx="8458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Leverages NLP course (spaCy, embeddings) + Gen AI course (LLMs, prompting) — minimal new learning overhead, maximum integration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874520" cy="329184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68680"/>
            <a:ext cx="1874520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6868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88696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1691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· PubMed · S2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SerpAPI · PDFs · Wikipedia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6-step ingestion pipeline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42032" y="868680"/>
            <a:ext cx="1874520" cy="329184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42032" y="868680"/>
            <a:ext cx="187452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2542032" y="86868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80944" y="88696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33472" y="1463040"/>
            <a:ext cx="1691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4.5 · Sonnet 4.5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4.5 · BART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· KeyBERT · bge-small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26864" y="868680"/>
            <a:ext cx="1874520" cy="329184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868680"/>
            <a:ext cx="187452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4626864" y="86868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65776" y="88696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18304" y="1463040"/>
            <a:ext cx="1691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 · Progress bar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viewer · Source explorer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PDF/MD/DOCX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711696" y="868680"/>
            <a:ext cx="1874520" cy="329184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11696" y="868680"/>
            <a:ext cx="1874520" cy="502920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22" name="Text 20"/>
          <p:cNvSpPr/>
          <p:nvPr/>
        </p:nvSpPr>
        <p:spPr>
          <a:xfrm>
            <a:off x="6711696" y="86868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50608" y="88696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03136" y="1463040"/>
            <a:ext cx="1691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bars · Scatter clusters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network · Timelines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gauges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NLP + Gen AI coursework  ·  8-Week Summer Scope  ·  Real-world Agentic AI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200400" y="4617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Research Assistant – Capstone</dc:title>
  <dc:subject>PptxGenJS Presentation</dc:subject>
  <dc:creator>PptxGenJS</dc:creator>
  <cp:lastModifiedBy>PptxGenJS</cp:lastModifiedBy>
  <cp:revision>1</cp:revision>
  <dcterms:created xsi:type="dcterms:W3CDTF">2026-05-27T19:59:02Z</dcterms:created>
  <dcterms:modified xsi:type="dcterms:W3CDTF">2026-05-27T19:59:02Z</dcterms:modified>
</cp:coreProperties>
</file>